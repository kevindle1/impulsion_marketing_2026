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73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34C"/>
          </a:solidFill>
          <a:ln/>
        </p:spPr>
      </p:sp>
      <p:sp>
        <p:nvSpPr>
          <p:cNvPr id="3" name="Shape 1"/>
          <p:cNvSpPr/>
          <p:nvPr/>
        </p:nvSpPr>
        <p:spPr>
          <a:xfrm rot="1200000">
            <a:off x="7955280" y="-2011680"/>
            <a:ext cx="6858000" cy="6858000"/>
          </a:xfrm>
          <a:prstGeom prst="roundRect">
            <a:avLst>
              <a:gd name="adj" fmla="val 6667"/>
            </a:avLst>
          </a:prstGeom>
          <a:solidFill>
            <a:srgbClr val="00875A"/>
          </a:solidFill>
          <a:ln/>
        </p:spPr>
      </p:sp>
      <p:sp>
        <p:nvSpPr>
          <p:cNvPr id="4" name="Shape 2"/>
          <p:cNvSpPr/>
          <p:nvPr/>
        </p:nvSpPr>
        <p:spPr>
          <a:xfrm rot="1080000">
            <a:off x="9326880" y="3291840"/>
            <a:ext cx="5486400" cy="5486400"/>
          </a:xfrm>
          <a:prstGeom prst="roundRect">
            <a:avLst>
              <a:gd name="adj" fmla="val 8333"/>
            </a:avLst>
          </a:prstGeom>
          <a:solidFill>
            <a:srgbClr val="0FA56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6400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0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87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65836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Impulsion</a:t>
            </a:r>
            <a:pPr indent="0" marL="0">
              <a:buNone/>
            </a:pPr>
            <a:r>
              <a:rPr lang="en-US" sz="1400" dirty="0">
                <a:solidFill>
                  <a:srgbClr val="DDEFE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Marketing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B9ECD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COMITÉ DE DÉVELOPPEMENT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6974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Impulsion Marketing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548640" y="37947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6FF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Pilotage de bout en bout des campagnes marketing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548640" y="5029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Point d’avancement</a:t>
            </a:r>
            <a:pPr indent="0" marL="0">
              <a:buNone/>
            </a:pPr>
            <a:r>
              <a:rPr lang="en-US" sz="1300" dirty="0">
                <a:solidFill>
                  <a:srgbClr val="CFED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   Date : 19 juin 2026       Statut : développement livré ✓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457200"/>
          </a:xfrm>
          <a:prstGeom prst="roundRect">
            <a:avLst>
              <a:gd name="adj" fmla="val 31250"/>
            </a:avLst>
          </a:prstGeom>
          <a:solidFill>
            <a:srgbClr val="00875A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57200"/>
            <a:ext cx="10820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1A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Contexte &amp; objectif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" y="969264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66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Pourquoi ce passage en comité.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09441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0C1A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 y a trois semaines, le </a:t>
            </a:r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073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COFON (comité de fonctionnement)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0C1A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 donné son aval pour lancer le développement d’Impulsion Marketing. Ce développement est aujourd’hui </a:t>
            </a:r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C1A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réalisé et opérationnel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0C1A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L’objet de ce passage est de </a:t>
            </a:r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C1A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contextualiser l’avancement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0C1A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: ce qui a été livré, la phase de test en cours, et le plan de généralisation à venir.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3515258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AEF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3310128"/>
            <a:ext cx="73152" cy="923544"/>
          </a:xfrm>
          <a:prstGeom prst="rect">
            <a:avLst/>
          </a:prstGeom>
          <a:solidFill>
            <a:srgbClr val="00875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346704"/>
            <a:ext cx="31494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87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100 %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77240" y="3858768"/>
            <a:ext cx="31494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66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Développement livré et fonctionnel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38218" y="3200400"/>
            <a:ext cx="3515258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AEF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38218" y="3310128"/>
            <a:ext cx="73152" cy="923544"/>
          </a:xfrm>
          <a:prstGeom prst="rect">
            <a:avLst/>
          </a:prstGeom>
          <a:solidFill>
            <a:srgbClr val="E8A100"/>
          </a:solidFill>
          <a:ln/>
        </p:spPr>
      </p:sp>
      <p:sp>
        <p:nvSpPr>
          <p:cNvPr id="12" name="Text 10"/>
          <p:cNvSpPr/>
          <p:nvPr/>
        </p:nvSpPr>
        <p:spPr>
          <a:xfrm>
            <a:off x="4566818" y="3346704"/>
            <a:ext cx="31494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1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566818" y="3858768"/>
            <a:ext cx="31494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66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Campagnes pilotes en parallèle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27797" y="3200400"/>
            <a:ext cx="3515258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AEF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27797" y="3310128"/>
            <a:ext cx="73152" cy="92354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8356397" y="3346704"/>
            <a:ext cx="31494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Prêt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356397" y="3858768"/>
            <a:ext cx="31494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66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Équipes formées &amp; accès ouverts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709160"/>
            <a:ext cx="11094415" cy="1417320"/>
          </a:xfrm>
          <a:prstGeom prst="roundRect">
            <a:avLst>
              <a:gd name="adj" fmla="val 6452"/>
            </a:avLst>
          </a:prstGeom>
          <a:solidFill>
            <a:srgbClr val="E8F6EF"/>
          </a:solidFill>
          <a:ln w="12700">
            <a:solidFill>
              <a:srgbClr val="CCEB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8463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C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 En une phrase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5212080"/>
            <a:ext cx="1054577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C4A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Impulsion centralise tout le cycle d’une campagne — de la demande à la mise en production — avec un suivi clair des livrables, des rôles et des échéances. La solution est prête ; nous validons en conditions réelles avant le déploiement à l’ensemble des équipes.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6419088"/>
            <a:ext cx="11094415" cy="0"/>
          </a:xfrm>
          <a:prstGeom prst="line">
            <a:avLst/>
          </a:prstGeom>
          <a:noFill/>
          <a:ln w="12700">
            <a:solidFill>
              <a:srgbClr val="EAEF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87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Impulsion Marketing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91840" y="6446520"/>
            <a:ext cx="5608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8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Dossier comité de développement — Juin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54577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457200"/>
          </a:xfrm>
          <a:prstGeom prst="roundRect">
            <a:avLst>
              <a:gd name="adj" fmla="val 31250"/>
            </a:avLst>
          </a:prstGeom>
          <a:solidFill>
            <a:srgbClr val="00875A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57200"/>
            <a:ext cx="10820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1A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Là où nous en sommes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" y="969264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66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 feu vert à la mise à l’échelle.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005840" y="2889504"/>
            <a:ext cx="9966960" cy="0"/>
          </a:xfrm>
          <a:prstGeom prst="line">
            <a:avLst/>
          </a:prstGeom>
          <a:noFill/>
          <a:ln w="31750">
            <a:solidFill>
              <a:srgbClr val="EAEF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889504"/>
            <a:ext cx="4983480" cy="0"/>
          </a:xfrm>
          <a:prstGeom prst="line">
            <a:avLst/>
          </a:prstGeom>
          <a:noFill/>
          <a:ln w="31750">
            <a:solidFill>
              <a:srgbClr val="0087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9536" y="2743200"/>
            <a:ext cx="292608" cy="292608"/>
          </a:xfrm>
          <a:prstGeom prst="ellipse">
            <a:avLst/>
          </a:prstGeom>
          <a:solidFill>
            <a:srgbClr val="00875A"/>
          </a:solidFill>
          <a:ln w="38100">
            <a:solidFill>
              <a:srgbClr val="0087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-91440" y="31546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1A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COFON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-182880" y="341985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66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Aval donné · il y a 3 sem.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51276" y="2743200"/>
            <a:ext cx="292608" cy="292608"/>
          </a:xfrm>
          <a:prstGeom prst="ellipse">
            <a:avLst/>
          </a:prstGeom>
          <a:solidFill>
            <a:srgbClr val="00875A"/>
          </a:solidFill>
          <a:ln w="38100">
            <a:solidFill>
              <a:srgbClr val="0087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00300" y="31546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1A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Développement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308860" y="341985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66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Réalisé ✓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751576" y="2651760"/>
            <a:ext cx="475488" cy="475488"/>
          </a:xfrm>
          <a:prstGeom prst="ellipse">
            <a:avLst/>
          </a:prstGeom>
          <a:solidFill>
            <a:srgbClr val="FDF3E2"/>
          </a:solidFill>
          <a:ln/>
        </p:spPr>
      </p:sp>
      <p:sp>
        <p:nvSpPr>
          <p:cNvPr id="14" name="Shape 12"/>
          <p:cNvSpPr/>
          <p:nvPr/>
        </p:nvSpPr>
        <p:spPr>
          <a:xfrm>
            <a:off x="5843016" y="2743200"/>
            <a:ext cx="292608" cy="29260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E8A1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31546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1A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Pilote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00600" y="341985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66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campagnes en test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334756" y="2743200"/>
            <a:ext cx="292608" cy="29260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EAEF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83780" y="31546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1A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Généralisation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292340" y="341985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66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À venir · en 2 temps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0826496" y="2743200"/>
            <a:ext cx="292608" cy="29260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EAEF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0" y="31546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1A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Essaimage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784080" y="341985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66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Autres caisses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754880"/>
            <a:ext cx="11094415" cy="1371600"/>
          </a:xfrm>
          <a:prstGeom prst="roundRect">
            <a:avLst>
              <a:gd name="adj" fmla="val 6667"/>
            </a:avLst>
          </a:prstGeom>
          <a:solidFill>
            <a:srgbClr val="E8F6EF"/>
          </a:solidFill>
          <a:ln w="12700">
            <a:solidFill>
              <a:srgbClr val="CCEB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89204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C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Une solution prête, validée avant de passer à l’échelle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2960" y="5257800"/>
            <a:ext cx="105457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C4A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développement est terminé. Deux campagnes pilotes tournent en parallèle pour éprouver l’outil à 100 % en conditions réelles, avant la généralisation aux équipes puis l’ouverture à d’autres caisses régionales.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6419088"/>
            <a:ext cx="11094415" cy="0"/>
          </a:xfrm>
          <a:prstGeom prst="line">
            <a:avLst/>
          </a:prstGeom>
          <a:noFill/>
          <a:ln w="12700">
            <a:solidFill>
              <a:srgbClr val="EAEF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87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Impulsion Marketing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91840" y="6446520"/>
            <a:ext cx="5608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8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Dossier comité de développement — Juin 2026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54577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457200"/>
          </a:xfrm>
          <a:prstGeom prst="roundRect">
            <a:avLst>
              <a:gd name="adj" fmla="val 31250"/>
            </a:avLst>
          </a:prstGeom>
          <a:solidFill>
            <a:srgbClr val="00875A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57200"/>
            <a:ext cx="10820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1A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que la solution apporte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" y="969264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66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 vision d’ensemble, accessible à chaque rôle.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709928"/>
            <a:ext cx="237744" cy="237744"/>
          </a:xfrm>
          <a:prstGeom prst="ellipse">
            <a:avLst/>
          </a:prstGeom>
          <a:solidFill>
            <a:srgbClr val="E8F6E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0992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7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96112" y="1645920"/>
            <a:ext cx="3858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C1A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point d’entrée unique, du brief à la mise en production.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59736"/>
            <a:ext cx="237744" cy="237744"/>
          </a:xfrm>
          <a:prstGeom prst="ellipse">
            <a:avLst/>
          </a:prstGeom>
          <a:solidFill>
            <a:srgbClr val="E8F6E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5973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7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96112" y="2395728"/>
            <a:ext cx="3858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C1A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Chacun voit ses campagnes et ce qui l’attend, dès l’accueil.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209544"/>
            <a:ext cx="237744" cy="237744"/>
          </a:xfrm>
          <a:prstGeom prst="ellipse">
            <a:avLst/>
          </a:prstGeom>
          <a:solidFill>
            <a:srgbClr val="E8F6E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20954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7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96112" y="3145536"/>
            <a:ext cx="3858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C1A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 indicateurs cliquables (à produire, à valider, échéances).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959352"/>
            <a:ext cx="237744" cy="237744"/>
          </a:xfrm>
          <a:prstGeom prst="ellipse">
            <a:avLst/>
          </a:prstGeom>
          <a:solidFill>
            <a:srgbClr val="E8F6EF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95935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7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96112" y="3895344"/>
            <a:ext cx="3858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C1A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Rôles clairs : PO/Marketing, Com, EBF, Data, managers.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709160"/>
            <a:ext cx="237744" cy="237744"/>
          </a:xfrm>
          <a:prstGeom prst="ellipse">
            <a:avLst/>
          </a:prstGeom>
          <a:solidFill>
            <a:srgbClr val="E8F6E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70916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7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96112" y="4645152"/>
            <a:ext cx="3858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C1A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Recherche par références (code projet, réf. com/paracom…).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120640" y="1554480"/>
            <a:ext cx="6522415" cy="3931920"/>
          </a:xfrm>
          <a:prstGeom prst="roundRect">
            <a:avLst>
              <a:gd name="adj" fmla="val 2326"/>
            </a:avLst>
          </a:prstGeom>
          <a:solidFill>
            <a:srgbClr val="E8F6EF"/>
          </a:solidFill>
          <a:ln w="19050">
            <a:solidFill>
              <a:srgbClr val="9FCBB7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5120640" y="1554480"/>
            <a:ext cx="6522415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🖼
</a:t>
            </a:r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05C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Capture — Tableau de bord
</a:t>
            </a:r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66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Indicateurs, « À produire » et « Mes campagnes en cours »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5120640" y="5596128"/>
            <a:ext cx="45720" cy="310896"/>
          </a:xfrm>
          <a:prstGeom prst="rect">
            <a:avLst/>
          </a:prstGeom>
          <a:solidFill>
            <a:srgbClr val="00875A"/>
          </a:solidFill>
          <a:ln/>
        </p:spPr>
      </p:sp>
      <p:sp>
        <p:nvSpPr>
          <p:cNvPr id="23" name="Text 21"/>
          <p:cNvSpPr/>
          <p:nvPr/>
        </p:nvSpPr>
        <p:spPr>
          <a:xfrm>
            <a:off x="5248656" y="5577840"/>
            <a:ext cx="639439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1A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Tableau de bord</a:t>
            </a:r>
            <a:pPr indent="0" marL="0">
              <a:buNone/>
            </a:pPr>
            <a:r>
              <a:rPr lang="en-US" sz="1100" dirty="0">
                <a:solidFill>
                  <a:srgbClr val="566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priorisation immédiate : à produire, à valider, échéances proches.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6419088"/>
            <a:ext cx="11094415" cy="0"/>
          </a:xfrm>
          <a:prstGeom prst="line">
            <a:avLst/>
          </a:prstGeom>
          <a:noFill/>
          <a:ln w="12700">
            <a:solidFill>
              <a:srgbClr val="EAEF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87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Impulsion Marketing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91840" y="6446520"/>
            <a:ext cx="5608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8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Dossier comité de développement — Juin 2026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54577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457200"/>
          </a:xfrm>
          <a:prstGeom prst="roundRect">
            <a:avLst>
              <a:gd name="adj" fmla="val 31250"/>
            </a:avLst>
          </a:prstGeom>
          <a:solidFill>
            <a:srgbClr val="00875A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57200"/>
            <a:ext cx="10820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1A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Planifier : le comité éditorial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" y="969264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66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Arbitrer et programmer les campagnes, ensemble.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4415" cy="3886200"/>
          </a:xfrm>
          <a:prstGeom prst="roundRect">
            <a:avLst>
              <a:gd name="adj" fmla="val 2353"/>
            </a:avLst>
          </a:prstGeom>
          <a:solidFill>
            <a:srgbClr val="E8F6EF"/>
          </a:solidFill>
          <a:ln w="19050">
            <a:solidFill>
              <a:srgbClr val="9FCBB7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48640" y="1554480"/>
            <a:ext cx="11094415" cy="3886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🖼
</a:t>
            </a:r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05C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Capture — Comité éditorial
</a:t>
            </a:r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66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Vue de planification éditoriale partagée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5550408"/>
            <a:ext cx="45720" cy="310896"/>
          </a:xfrm>
          <a:prstGeom prst="rect">
            <a:avLst/>
          </a:prstGeom>
          <a:solidFill>
            <a:srgbClr val="00875A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" y="5532120"/>
            <a:ext cx="1096639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1A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Comité éditorial</a:t>
            </a:r>
            <a:pPr indent="0" marL="0">
              <a:buNone/>
            </a:pPr>
            <a:r>
              <a:rPr lang="en-US" sz="1100" dirty="0">
                <a:solidFill>
                  <a:srgbClr val="566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une vue partagée pour arbitrer les priorités et programmer les campagnes dans le temps.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6419088"/>
            <a:ext cx="11094415" cy="0"/>
          </a:xfrm>
          <a:prstGeom prst="line">
            <a:avLst/>
          </a:prstGeom>
          <a:noFill/>
          <a:ln w="12700">
            <a:solidFill>
              <a:srgbClr val="EAEF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87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Impulsion Marketing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91840" y="6446520"/>
            <a:ext cx="5608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8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Dossier comité de développement — Juin 2026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54577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457200"/>
          </a:xfrm>
          <a:prstGeom prst="roundRect">
            <a:avLst>
              <a:gd name="adj" fmla="val 31250"/>
            </a:avLst>
          </a:prstGeom>
          <a:solidFill>
            <a:srgbClr val="00875A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57200"/>
            <a:ext cx="10820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1A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suivi d’une campagne, de bout en bout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" y="969264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66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Chaque livrable, chaque validation, chaque date — tracés.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12064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AEF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4650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465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98448" y="1691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1A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Saisie de la demande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298448" y="194767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PO crée la campagne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1783080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F3E8FF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1783080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77240" y="230428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3042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98448" y="224942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1A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Affectation &amp; kick-off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298448" y="250545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manager affecte les équipes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17720" y="2340864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F3E8FF"/>
          </a:solidFill>
          <a:ln/>
        </p:spPr>
      </p:sp>
      <p:sp>
        <p:nvSpPr>
          <p:cNvPr id="17" name="Text 15"/>
          <p:cNvSpPr/>
          <p:nvPr/>
        </p:nvSpPr>
        <p:spPr>
          <a:xfrm>
            <a:off x="4617720" y="2340864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77240" y="286207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28620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98448" y="28072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1A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Maquette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298448" y="306324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Conception du visuel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17720" y="289864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/>
        </p:spPr>
      </p:sp>
      <p:sp>
        <p:nvSpPr>
          <p:cNvPr id="23" name="Text 21"/>
          <p:cNvSpPr/>
          <p:nvPr/>
        </p:nvSpPr>
        <p:spPr>
          <a:xfrm>
            <a:off x="4617720" y="2898648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77240" y="341985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A06F00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34198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98448" y="33649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1A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BAT / VAT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298448" y="362102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Bon à tirer, validation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17720" y="3456432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FDF3E2"/>
          </a:solidFill>
          <a:ln/>
        </p:spPr>
      </p:sp>
      <p:sp>
        <p:nvSpPr>
          <p:cNvPr id="29" name="Text 27"/>
          <p:cNvSpPr/>
          <p:nvPr/>
        </p:nvSpPr>
        <p:spPr>
          <a:xfrm>
            <a:off x="4617720" y="3456432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06F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EBF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77240" y="39776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0875A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3977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298448" y="392277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1A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Ciblage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298448" y="417880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Sélection des cibles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17720" y="4014216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E8F6EF"/>
          </a:solidFill>
          <a:ln/>
        </p:spPr>
      </p:sp>
      <p:sp>
        <p:nvSpPr>
          <p:cNvPr id="35" name="Text 33"/>
          <p:cNvSpPr/>
          <p:nvPr/>
        </p:nvSpPr>
        <p:spPr>
          <a:xfrm>
            <a:off x="4617720" y="4014216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87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77240" y="453542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0875A"/>
          </a:solidFill>
          <a:ln/>
        </p:spPr>
      </p:sp>
      <p:sp>
        <p:nvSpPr>
          <p:cNvPr id="37" name="Text 35"/>
          <p:cNvSpPr/>
          <p:nvPr/>
        </p:nvSpPr>
        <p:spPr>
          <a:xfrm>
            <a:off x="777240" y="45354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298448" y="4480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1A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en production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1298448" y="473659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Contrôle avant envoi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17720" y="4572000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E8F6EF"/>
          </a:solidFill>
          <a:ln/>
        </p:spPr>
      </p:sp>
      <p:sp>
        <p:nvSpPr>
          <p:cNvPr id="41" name="Text 39"/>
          <p:cNvSpPr/>
          <p:nvPr/>
        </p:nvSpPr>
        <p:spPr>
          <a:xfrm>
            <a:off x="4617720" y="4572000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87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77240" y="509320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05C3D"/>
          </a:solidFill>
          <a:ln/>
        </p:spPr>
      </p:sp>
      <p:sp>
        <p:nvSpPr>
          <p:cNvPr id="43" name="Text 41"/>
          <p:cNvSpPr/>
          <p:nvPr/>
        </p:nvSpPr>
        <p:spPr>
          <a:xfrm>
            <a:off x="777240" y="5093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298448" y="503834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1A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Mise en production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1298448" y="529437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Campagne lancée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617720" y="5129784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E8F6EF"/>
          </a:solidFill>
          <a:ln/>
        </p:spPr>
      </p:sp>
      <p:sp>
        <p:nvSpPr>
          <p:cNvPr id="47" name="Text 45"/>
          <p:cNvSpPr/>
          <p:nvPr/>
        </p:nvSpPr>
        <p:spPr>
          <a:xfrm>
            <a:off x="4617720" y="5129784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5C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MEP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035040" y="1554480"/>
            <a:ext cx="5608015" cy="3703320"/>
          </a:xfrm>
          <a:prstGeom prst="roundRect">
            <a:avLst>
              <a:gd name="adj" fmla="val 2469"/>
            </a:avLst>
          </a:prstGeom>
          <a:solidFill>
            <a:srgbClr val="E8F6EF"/>
          </a:solidFill>
          <a:ln w="19050">
            <a:solidFill>
              <a:srgbClr val="9FCBB7"/>
            </a:solidFill>
            <a:prstDash val="dash"/>
          </a:ln>
        </p:spPr>
      </p:sp>
      <p:sp>
        <p:nvSpPr>
          <p:cNvPr id="49" name="Text 47"/>
          <p:cNvSpPr/>
          <p:nvPr/>
        </p:nvSpPr>
        <p:spPr>
          <a:xfrm>
            <a:off x="6035040" y="1554480"/>
            <a:ext cx="5608015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🖼
</a:t>
            </a:r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05C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Capture — Détail d’une campagne
</a:t>
            </a:r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66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Timeline des étapes : dates &amp; statuts</a:t>
            </a:r>
            <a:endParaRPr lang="en-US" sz="3000" dirty="0"/>
          </a:p>
        </p:txBody>
      </p:sp>
      <p:sp>
        <p:nvSpPr>
          <p:cNvPr id="50" name="Shape 48"/>
          <p:cNvSpPr/>
          <p:nvPr/>
        </p:nvSpPr>
        <p:spPr>
          <a:xfrm>
            <a:off x="6035040" y="5367528"/>
            <a:ext cx="45720" cy="310896"/>
          </a:xfrm>
          <a:prstGeom prst="rect">
            <a:avLst/>
          </a:prstGeom>
          <a:solidFill>
            <a:srgbClr val="00875A"/>
          </a:solidFill>
          <a:ln/>
        </p:spPr>
      </p:sp>
      <p:sp>
        <p:nvSpPr>
          <p:cNvPr id="51" name="Text 49"/>
          <p:cNvSpPr/>
          <p:nvPr/>
        </p:nvSpPr>
        <p:spPr>
          <a:xfrm>
            <a:off x="6163056" y="5349240"/>
            <a:ext cx="547999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1A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Fiche campagne</a:t>
            </a:r>
            <a:pPr indent="0" marL="0">
              <a:buNone/>
            </a:pPr>
            <a:r>
              <a:rPr lang="en-US" sz="1100" dirty="0">
                <a:solidFill>
                  <a:srgbClr val="566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la timeline complète des livrables, horodatée par étape.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48640" y="6419088"/>
            <a:ext cx="11094415" cy="0"/>
          </a:xfrm>
          <a:prstGeom prst="line">
            <a:avLst/>
          </a:prstGeom>
          <a:noFill/>
          <a:ln w="12700">
            <a:solidFill>
              <a:srgbClr val="EAEFE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87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Impulsion Marketing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291840" y="6446520"/>
            <a:ext cx="5608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8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Dossier comité de développement — Juin 2026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054577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457200"/>
          </a:xfrm>
          <a:prstGeom prst="roundRect">
            <a:avLst>
              <a:gd name="adj" fmla="val 31250"/>
            </a:avLst>
          </a:prstGeom>
          <a:solidFill>
            <a:srgbClr val="00875A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57200"/>
            <a:ext cx="10820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1A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qu’il nous reste à faire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" y="969264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66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 pilote à la généralisation.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4415" cy="868680"/>
          </a:xfrm>
          <a:prstGeom prst="roundRect">
            <a:avLst>
              <a:gd name="adj" fmla="val 10526"/>
            </a:avLst>
          </a:prstGeom>
          <a:solidFill>
            <a:srgbClr val="FDF3E2"/>
          </a:solidFill>
          <a:ln w="12700">
            <a:solidFill>
              <a:srgbClr val="F0D9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27632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spc="100" kern="0" dirty="0">
                <a:solidFill>
                  <a:srgbClr val="A06F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ACTUELLE 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C4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Deux campagnes lancées en parallèle sur Impulsion pour valider l’outil à 100 % en conditions réelles, avant d’embarquer toutes les équipes.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C1A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 généralisation en deux temps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11094415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AEF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3474720"/>
            <a:ext cx="457200" cy="457200"/>
          </a:xfrm>
          <a:prstGeom prst="ellipse">
            <a:avLst/>
          </a:prstGeom>
          <a:solidFill>
            <a:srgbClr val="00875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3401568"/>
            <a:ext cx="9905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1A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Bascule encadrée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63040" y="3767328"/>
            <a:ext cx="9905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66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Arrêt du flux sur les anciens outils. Une équipe dédiée de 5 à 6 personnes migre toutes les tâches en une seule fois sur Impulsion, pour repartir d’une base propre et complète.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754880"/>
            <a:ext cx="11094415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AEF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5029200"/>
            <a:ext cx="457200" cy="457200"/>
          </a:xfrm>
          <a:prstGeom prst="ellipse">
            <a:avLst/>
          </a:prstGeom>
          <a:solidFill>
            <a:srgbClr val="00875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5029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63040" y="4956048"/>
            <a:ext cx="9905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1A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Autonomie des équipes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63040" y="5321808"/>
            <a:ext cx="9905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66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redonne la main à toutes les équipes pour qu’elles travaillent directement dans Impulsion, au quotidien.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6419088"/>
            <a:ext cx="11094415" cy="0"/>
          </a:xfrm>
          <a:prstGeom prst="line">
            <a:avLst/>
          </a:prstGeom>
          <a:noFill/>
          <a:ln w="12700">
            <a:solidFill>
              <a:srgbClr val="EAEF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87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Impulsion Marketing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91840" y="6446520"/>
            <a:ext cx="5608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8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Dossier comité de développement — Juin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54577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457200"/>
          </a:xfrm>
          <a:prstGeom prst="roundRect">
            <a:avLst>
              <a:gd name="adj" fmla="val 31250"/>
            </a:avLst>
          </a:prstGeom>
          <a:solidFill>
            <a:srgbClr val="00875A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57200"/>
            <a:ext cx="10820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1A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Prêt à déployer — et déjà attendu ailleurs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" y="969264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66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terrain est préparé, l’intérêt dépasse notre caisse.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094415" cy="1371600"/>
          </a:xfrm>
          <a:prstGeom prst="roundRect">
            <a:avLst>
              <a:gd name="adj" fmla="val 6667"/>
            </a:avLst>
          </a:prstGeom>
          <a:solidFill>
            <a:srgbClr val="E8F6EF"/>
          </a:solidFill>
          <a:ln w="12700">
            <a:solidFill>
              <a:srgbClr val="CCEB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8308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C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🚀  Déjà prêt pour le déploiement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C4A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Toutes les équipes ont reçu une présentation de l’outil et l’ensemble des accès sont ouverts. Le terrain est préparé pour une bascule rapide.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246120"/>
            <a:ext cx="11094415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AEF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38328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1A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🌍  Au-delà de notre caisse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794760"/>
            <a:ext cx="105457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566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16 juin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66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l’outil a été présenté à 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566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deux caisses régionales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66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intéressées pour le récupérer. Un rendez-vous est prévu pour les accompagner dans la configuration et le déploiement chez elles.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892040"/>
            <a:ext cx="11094415" cy="1234440"/>
          </a:xfrm>
          <a:prstGeom prst="roundRect">
            <a:avLst>
              <a:gd name="adj" fmla="val 7407"/>
            </a:avLst>
          </a:prstGeom>
          <a:solidFill>
            <a:srgbClr val="00734C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502920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🏁  En synthèse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5413248"/>
            <a:ext cx="105457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FF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Développement livré, pilote en cours, équipes formées et accès prêts, et un intérêt déjà au-delà de notre périmètre. 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projet en réussite, sur le point de passer à l’échelle.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6419088"/>
            <a:ext cx="11094415" cy="0"/>
          </a:xfrm>
          <a:prstGeom prst="line">
            <a:avLst/>
          </a:prstGeom>
          <a:noFill/>
          <a:ln w="12700">
            <a:solidFill>
              <a:srgbClr val="EAEF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87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Impulsion Marketing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91840" y="6446520"/>
            <a:ext cx="5608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8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Dossier comité de développement — Juin 2026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54577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73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-1828800" y="4023360"/>
            <a:ext cx="7315200" cy="6400800"/>
          </a:xfrm>
          <a:prstGeom prst="roundRect">
            <a:avLst>
              <a:gd name="adj" fmla="val 7143"/>
            </a:avLst>
          </a:prstGeom>
          <a:solidFill>
            <a:srgbClr val="005C3D"/>
          </a:solidFill>
          <a:ln/>
        </p:spPr>
      </p:sp>
      <p:sp>
        <p:nvSpPr>
          <p:cNvPr id="3" name="Shape 1"/>
          <p:cNvSpPr/>
          <p:nvPr/>
        </p:nvSpPr>
        <p:spPr>
          <a:xfrm rot="960000">
            <a:off x="8686800" y="-2286000"/>
            <a:ext cx="6400800" cy="6400800"/>
          </a:xfrm>
          <a:prstGeom prst="roundRect">
            <a:avLst>
              <a:gd name="adj" fmla="val 7143"/>
            </a:avLst>
          </a:prstGeom>
          <a:solidFill>
            <a:srgbClr val="0FA56E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6400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0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87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43000" y="65836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Impulsion</a:t>
            </a:r>
            <a:pPr indent="0" marL="0">
              <a:buNone/>
            </a:pPr>
            <a:r>
              <a:rPr lang="en-US" sz="1400" dirty="0">
                <a:solidFill>
                  <a:srgbClr val="DDEFE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Marketing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65176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projet en réussite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548640" y="3703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6FF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Prêt à passer à l’échelle.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4754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D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Merci — questions &amp; échanges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Impulsion Marketing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Comité de développement — Impulsion Marketing</dc:title>
  <dc:subject>PptxGenJS Presentation</dc:subject>
  <dc:creator>Impulsion Marketing</dc:creator>
  <cp:lastModifiedBy>Impulsion Marketing</cp:lastModifiedBy>
  <cp:revision>1</cp:revision>
  <dcterms:created xsi:type="dcterms:W3CDTF">2026-06-17T12:16:22Z</dcterms:created>
  <dcterms:modified xsi:type="dcterms:W3CDTF">2026-06-17T12:16:22Z</dcterms:modified>
</cp:coreProperties>
</file>